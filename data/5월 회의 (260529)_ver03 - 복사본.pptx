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884" r:id="rId2"/>
    <p:sldId id="883" r:id="rId3"/>
    <p:sldId id="891" r:id="rId4"/>
    <p:sldId id="892" r:id="rId5"/>
    <p:sldId id="896" r:id="rId6"/>
    <p:sldId id="894" r:id="rId7"/>
    <p:sldId id="895" r:id="rId8"/>
    <p:sldId id="893" r:id="rId9"/>
    <p:sldId id="897" r:id="rId10"/>
    <p:sldId id="885" r:id="rId11"/>
    <p:sldId id="890" r:id="rId12"/>
    <p:sldId id="889" r:id="rId13"/>
    <p:sldId id="886" r:id="rId1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74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31991-4EDE-444F-90F1-E437ACDD485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A4190-9B6C-4E0D-A7CC-E81092526E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74541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CA131-4AF0-4AAD-9B5E-C541AFB252E1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163B1-362D-4349-B66A-67DF9D565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0072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724400" y="65785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page </a:t>
            </a:r>
            <a:fld id="{75691864-FBD0-47C8-AB56-B5F0587218F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4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7143"/>
          </a:xfrm>
          <a:prstGeom prst="rect">
            <a:avLst/>
          </a:prstGeom>
        </p:spPr>
      </p:pic>
      <p:sp>
        <p:nvSpPr>
          <p:cNvPr id="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724400" y="65785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page </a:t>
            </a:r>
            <a:fld id="{75691864-FBD0-47C8-AB56-B5F0587218F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75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내지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061537" y="645520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B48A34-8479-4B7D-BA7E-7CB55E3773BE}" type="slidenum">
              <a:rPr lang="ko-KR" altLang="en-US" sz="1400" b="1" smtClean="0"/>
              <a:pPr/>
              <a:t>‹#›</a:t>
            </a:fld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546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724400" y="65785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page </a:t>
            </a:r>
            <a:fld id="{75691864-FBD0-47C8-AB56-B5F0587218F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93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pl-lpi.nrcan-rncan.gc.ca/en-US/product/?product=P9COMBO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lowhvac.com/csa-p-9-11-reports/" TargetMode="External"/><Relationship Id="rId2" Type="http://schemas.openxmlformats.org/officeDocument/2006/relationships/hyperlink" Target="https://www.hi-velocity.com/en/news/Press-Release-P-9.11-Testing-011017.htm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4.</a:t>
            </a:r>
            <a:r>
              <a:rPr lang="ko-KR" altLang="en-US" b="1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AirHandler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>
                <a:latin typeface="+mn-ea"/>
              </a:rPr>
              <a:t>인증 관련</a:t>
            </a:r>
            <a:endParaRPr lang="ko-KR" altLang="en-US" b="1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인증 관련 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602604"/>
              </p:ext>
            </p:extLst>
          </p:nvPr>
        </p:nvGraphicFramePr>
        <p:xfrm>
          <a:off x="232760" y="1266991"/>
          <a:ext cx="11521090" cy="4969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4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항 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세부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비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관련 인증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-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CSA</a:t>
                      </a:r>
                      <a:r>
                        <a:rPr lang="en-US" altLang="ko-KR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P.9-11 </a:t>
                      </a:r>
                      <a:r>
                        <a:rPr lang="ko-KR" altLang="en-US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인증 </a:t>
                      </a:r>
                      <a:r>
                        <a:rPr lang="en-US" altLang="ko-KR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법적 의무 사항은 아니고</a:t>
                      </a:r>
                      <a:r>
                        <a:rPr lang="en-US" altLang="ko-KR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자발적 효율 성능 인증임</a:t>
                      </a:r>
                      <a:endParaRPr lang="en-US" altLang="ko-KR" sz="14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4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  → 캐나다 Energy Star for New Homes 프로그램 인정을 원할 경우에만 필요한 자발적 성능 인증임</a:t>
                      </a:r>
                      <a:endParaRPr lang="en-US" altLang="ko-KR" sz="14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4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4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→ 일반 판매· 설치에는 법적 의무가 아님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       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endParaRPr lang="en-US" altLang="ko-KR" sz="1400" b="1" baseline="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4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NRCan</a:t>
                      </a:r>
                      <a:r>
                        <a:rPr lang="en-US" altLang="ko-K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캐나다 천연자원부</a:t>
                      </a:r>
                      <a:r>
                        <a:rPr lang="en-US" altLang="ko-K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공식 홈페이지 확인</a:t>
                      </a:r>
                      <a:r>
                        <a:rPr lang="en-US" altLang="ko-K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원문 인용: "Combination systems are not currently regulated under Canada's Energy Efficiency Regulations. However, look for a system that has been rated as a system using the new Canadian Standards Association standard CSA P.9“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콤비네이션 시스템은 현재 캐나다 에너지 효율 규정(Energy Efficiency Regulations)의 규제 대상이 아님.  소비자</a:t>
                      </a:r>
                      <a:r>
                        <a:rPr lang="en-US" altLang="ko-KR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1" i="0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시공자</a:t>
                      </a:r>
                      <a:r>
                        <a:rPr lang="ko-KR" altLang="en-US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입장에서 </a:t>
                      </a:r>
                      <a:r>
                        <a:rPr lang="en-US" altLang="ko-KR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CSA P.9 </a:t>
                      </a:r>
                      <a:r>
                        <a:rPr lang="ko-KR" altLang="en-US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인증을 받은 제품을 선택하는 것을 권장</a:t>
                      </a:r>
                      <a:r>
                        <a:rPr lang="en-US" altLang="ko-KR" sz="1400" b="1" i="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400" b="1" i="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                 </a:t>
                      </a:r>
                      <a:endParaRPr lang="ko-KR" altLang="en-US" sz="14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인증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CSA P.9-11은 </a:t>
                      </a:r>
                      <a:r>
                        <a:rPr lang="ko-KR" altLang="en-US" sz="14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'특정 온수기 + 특정 AHU 조합'으로 인증 취득 </a:t>
                      </a: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→ 모델이 바뀌면 인증도 무효</a:t>
                      </a:r>
                      <a:endParaRPr lang="en-US" altLang="ko-KR" sz="14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인증 시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요구사항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인증 진행 시 함께 진행 할 </a:t>
                      </a:r>
                      <a:r>
                        <a:rPr lang="en-US" altLang="ko-KR" sz="1400" b="1" kern="12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Airhandler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unit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선정이 필수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현재 미국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CSA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CSA P.9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인증을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할 수 있는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LAB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보유 안 함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중국으로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LAB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이전에 따름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Test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가능한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LAB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CSA </a:t>
                      </a:r>
                      <a:r>
                        <a:rPr lang="ko-KR" altLang="en-US" sz="14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출장 검사 가능 또는 인증 대행 기관에서 인증  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9386" y="6291914"/>
            <a:ext cx="11587001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  <a:spcAft>
                <a:spcPts val="150"/>
              </a:spcAft>
              <a:buNone/>
            </a:pPr>
            <a:r>
              <a:rPr lang="ko-KR" altLang="en-US" sz="1400" b="1" dirty="0">
                <a:solidFill>
                  <a:srgbClr val="1D4ED8"/>
                </a:solidFill>
              </a:rPr>
              <a:t>🔗 NRCan 인증 목록 전체 조회: </a:t>
            </a:r>
            <a:r>
              <a:rPr lang="ko-KR" altLang="en-US" sz="1400" dirty="0">
                <a:solidFill>
                  <a:srgbClr val="1D4ED8"/>
                </a:solidFill>
                <a:hlinkClick r:id="rId2"/>
              </a:rPr>
              <a:t>https://spl-lpi.nrcan-rncan.gc.ca/en-US/product/?product=P9COMBO</a:t>
            </a:r>
            <a:endParaRPr lang="ko-KR" altLang="en-US" sz="1400" dirty="0">
              <a:solidFill>
                <a:srgbClr val="1D4E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6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인증 관련 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784005"/>
              </p:ext>
            </p:extLst>
          </p:nvPr>
        </p:nvGraphicFramePr>
        <p:xfrm>
          <a:off x="232760" y="1266990"/>
          <a:ext cx="11521092" cy="5095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56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16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온수기 </a:t>
                      </a:r>
                      <a:endParaRPr lang="en-US" altLang="ko-KR" sz="1600" b="1" dirty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전체 인증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현재 판매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단종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단종 추정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평균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TPF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최고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TPF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비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Navien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34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26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0.91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0.98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구형 온수기 단종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(NPE-A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시리즈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Rheem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0.91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0.92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Rinnai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0.84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0.94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Flowmax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0.87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0.94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공식 사이트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Glow Brand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0.87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공식 사이트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Radiant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IBC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0.91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0.91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합  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85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45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26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총 인증 목록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: 85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건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타원 2"/>
          <p:cNvSpPr/>
          <p:nvPr/>
        </p:nvSpPr>
        <p:spPr>
          <a:xfrm>
            <a:off x="1885950" y="5781675"/>
            <a:ext cx="1085850" cy="6381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54102" y="6362701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>
                <a:latin typeface="+mn-ea"/>
              </a:rPr>
              <a:t>TPF : Thermal Performance Factor (</a:t>
            </a:r>
            <a:r>
              <a:rPr lang="ko-KR" altLang="en-US" sz="1600" b="1" dirty="0" err="1">
                <a:latin typeface="+mn-ea"/>
              </a:rPr>
              <a:t>열성능</a:t>
            </a:r>
            <a:r>
              <a:rPr lang="ko-KR" altLang="en-US" sz="1600" b="1" dirty="0">
                <a:latin typeface="+mn-ea"/>
              </a:rPr>
              <a:t> 계수</a:t>
            </a:r>
            <a:r>
              <a:rPr lang="en-US" altLang="ko-KR" sz="1600" b="1" dirty="0">
                <a:latin typeface="+mn-ea"/>
              </a:rPr>
              <a:t>)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4.</a:t>
            </a:r>
            <a:r>
              <a:rPr lang="ko-KR" altLang="en-US" b="1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AirHandler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>
                <a:latin typeface="+mn-ea"/>
              </a:rPr>
              <a:t>인증 관련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613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인증 관련 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431505"/>
              </p:ext>
            </p:extLst>
          </p:nvPr>
        </p:nvGraphicFramePr>
        <p:xfrm>
          <a:off x="232760" y="1266990"/>
          <a:ext cx="11625865" cy="45702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16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AirHandler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baseline="0" dirty="0">
                          <a:latin typeface="+mn-ea"/>
                          <a:ea typeface="+mn-ea"/>
                        </a:rPr>
                        <a:t>업체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인증 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AirHandler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주요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연결 온수기 업체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비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IBC</a:t>
                      </a:r>
                      <a:r>
                        <a:rPr lang="en-US" altLang="ko-KR" sz="1600" b="1" baseline="0" dirty="0">
                          <a:latin typeface="+mn-ea"/>
                          <a:ea typeface="+mn-ea"/>
                        </a:rPr>
                        <a:t> Technologies 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AHU1200·AHU1200-HC 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Rheem IKONIC 시리즈와 인증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AIRMAX Technologies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MAXAIR™ 50e·70e·100e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Navien NPE-A·A2와 인증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Hi-Velocity Systems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HE-Z·HE-B·LV-Z 시리즈 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Navien</a:t>
                      </a:r>
                      <a:r>
                        <a:rPr lang="en-US" altLang="ko-KR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Rinnai와 인증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홈페이지에 기재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iFLOW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HVAC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iFLH-140000~180000 시리즈 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Navien</a:t>
                      </a:r>
                      <a:r>
                        <a:rPr lang="en-US" altLang="ko-KR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Rinnai와 인증 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홈페이지에 기재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EcoSmart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Air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ES90LVP·RK50HVP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Rinnai</a:t>
                      </a:r>
                      <a:r>
                        <a:rPr lang="en-US" altLang="ko-KR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Radiant와 인증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Rinnai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CAH050E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Rinnai</a:t>
                      </a: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와</a:t>
                      </a:r>
                      <a:r>
                        <a:rPr lang="en-US" altLang="ko-KR" sz="1600" b="1" baseline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인증 </a:t>
                      </a:r>
                      <a:endParaRPr lang="ko-KR" altLang="en-US" sz="1600" b="1" i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합  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85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타원 2"/>
          <p:cNvSpPr/>
          <p:nvPr/>
        </p:nvSpPr>
        <p:spPr>
          <a:xfrm>
            <a:off x="2867876" y="5242152"/>
            <a:ext cx="1085850" cy="6381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32760" y="5856247"/>
            <a:ext cx="10406665" cy="782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  <a:spcAft>
                <a:spcPts val="150"/>
              </a:spcAft>
              <a:buNone/>
            </a:pPr>
            <a:r>
              <a:rPr lang="ko-KR" altLang="en-US" sz="1600" dirty="0">
                <a:solidFill>
                  <a:srgbClr val="7030A0"/>
                </a:solidFill>
                <a:hlinkClick r:id="rId2"/>
              </a:rPr>
              <a:t>https://www.hi-velocity.com/en/news/Press-Release-P-9.11-Testing-011017.htm</a:t>
            </a:r>
            <a:endParaRPr lang="en-US" altLang="ko-KR" sz="1600" dirty="0">
              <a:solidFill>
                <a:srgbClr val="7030A0"/>
              </a:solidFill>
              <a:hlinkClick r:id="rId3"/>
            </a:endParaRPr>
          </a:p>
          <a:p>
            <a:pPr>
              <a:lnSpc>
                <a:spcPct val="135000"/>
              </a:lnSpc>
              <a:spcAft>
                <a:spcPts val="150"/>
              </a:spcAft>
              <a:buNone/>
            </a:pPr>
            <a:r>
              <a:rPr lang="ko-KR" altLang="en-US" sz="1600" dirty="0">
                <a:solidFill>
                  <a:srgbClr val="7030A0"/>
                </a:solidFill>
                <a:hlinkClick r:id="rId3"/>
              </a:rPr>
              <a:t>https://www.iflowhvac.com/csa-p-9-11-reports/</a:t>
            </a:r>
            <a:endParaRPr lang="en-US" altLang="ko-KR" sz="1600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4.</a:t>
            </a:r>
            <a:r>
              <a:rPr lang="ko-KR" altLang="en-US" b="1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AirHandler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>
                <a:latin typeface="+mn-ea"/>
              </a:rPr>
              <a:t>인증 관련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365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인증 관련 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77" y="1335697"/>
            <a:ext cx="4846523" cy="52805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87" y="1335697"/>
            <a:ext cx="6656821" cy="3995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4.</a:t>
            </a:r>
            <a:r>
              <a:rPr lang="ko-KR" altLang="en-US" b="1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AirHandler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>
                <a:latin typeface="+mn-ea"/>
              </a:rPr>
              <a:t>인증 관련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553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8" y="3810906"/>
            <a:ext cx="4575608" cy="26447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5.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Twin System </a:t>
            </a:r>
            <a:r>
              <a:rPr lang="ko-KR" altLang="en-US" b="1" dirty="0" err="1">
                <a:latin typeface="+mn-ea"/>
              </a:rPr>
              <a:t>컨셉</a:t>
            </a:r>
            <a:r>
              <a:rPr lang="ko-KR" altLang="en-US" b="1" dirty="0">
                <a:latin typeface="+mn-ea"/>
              </a:rPr>
              <a:t> 안 </a:t>
            </a:r>
            <a:r>
              <a:rPr lang="en-US" altLang="ko-KR" b="1" dirty="0">
                <a:latin typeface="+mn-ea"/>
              </a:rPr>
              <a:t>(1</a:t>
            </a:r>
            <a:r>
              <a:rPr lang="ko-KR" altLang="en-US" b="1" dirty="0">
                <a:latin typeface="+mn-ea"/>
              </a:rPr>
              <a:t>안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3034" y="4545014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45" y="3472352"/>
            <a:ext cx="3195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>
                <a:latin typeface="+mn-ea"/>
              </a:rPr>
              <a:t>Heating Box </a:t>
            </a:r>
            <a:r>
              <a:rPr lang="ko-KR" altLang="en-US" sz="1600" b="1" dirty="0">
                <a:latin typeface="+mn-ea"/>
              </a:rPr>
              <a:t>구조도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034" y="5204129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온수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15" y="4493509"/>
            <a:ext cx="108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+mn-ea"/>
              </a:rPr>
              <a:t>Airhandler</a:t>
            </a:r>
            <a:endParaRPr lang="en-US" altLang="ko-KR" sz="1400" b="1" dirty="0">
              <a:latin typeface="+mn-ea"/>
            </a:endParaRPr>
          </a:p>
          <a:p>
            <a:pPr algn="ctr"/>
            <a:r>
              <a:rPr lang="ko-KR" altLang="en-US" sz="1400" b="1" dirty="0">
                <a:latin typeface="+mn-ea"/>
              </a:rPr>
              <a:t>환수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9" y="5723512"/>
            <a:ext cx="108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+mn-ea"/>
              </a:rPr>
              <a:t>Airhandler</a:t>
            </a:r>
            <a:endParaRPr lang="en-US" altLang="ko-KR" sz="1400" b="1" dirty="0">
              <a:latin typeface="+mn-ea"/>
            </a:endParaRPr>
          </a:p>
          <a:p>
            <a:pPr algn="ctr"/>
            <a:r>
              <a:rPr lang="ko-KR" altLang="en-US" sz="1400" b="1" dirty="0">
                <a:latin typeface="+mn-ea"/>
              </a:rPr>
              <a:t>공급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335" y="3806280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7622" y="3792118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온수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6030" y="3621317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환수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0227" y="6359028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#2 </a:t>
            </a:r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2083" y="6344866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#2 </a:t>
            </a:r>
            <a:r>
              <a:rPr lang="ko-KR" altLang="en-US" sz="1400" b="1" dirty="0">
                <a:latin typeface="+mn-ea"/>
              </a:rPr>
              <a:t>온수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870" y="4455635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Pump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27469" y="5831233"/>
            <a:ext cx="1268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latin typeface="+mn-ea"/>
              </a:rPr>
              <a:t>판형열교환기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37622" y="4721847"/>
            <a:ext cx="636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TMV</a:t>
            </a:r>
            <a:endParaRPr lang="ko-KR" altLang="en-US" sz="1400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6263692" y="631768"/>
            <a:ext cx="5822400" cy="6127890"/>
            <a:chOff x="6263692" y="631768"/>
            <a:chExt cx="5822400" cy="612789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8124" y="631768"/>
              <a:ext cx="5777968" cy="612789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6263692" y="4720126"/>
              <a:ext cx="2479411" cy="1302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308124" y="745686"/>
              <a:ext cx="2479411" cy="1302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86389" y="826166"/>
            <a:ext cx="66552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1. System : </a:t>
            </a:r>
            <a:r>
              <a:rPr lang="ko-KR" altLang="en-US" sz="1600" b="1" dirty="0">
                <a:latin typeface="+mn-ea"/>
              </a:rPr>
              <a:t>온수기 </a:t>
            </a:r>
            <a:r>
              <a:rPr lang="en-US" altLang="ko-KR" sz="1600" b="1" dirty="0">
                <a:latin typeface="+mn-ea"/>
              </a:rPr>
              <a:t>2</a:t>
            </a:r>
            <a:r>
              <a:rPr lang="ko-KR" altLang="en-US" sz="1600" b="1" dirty="0">
                <a:latin typeface="+mn-ea"/>
              </a:rPr>
              <a:t>대 </a:t>
            </a:r>
            <a:r>
              <a:rPr lang="en-US" altLang="ko-KR" sz="1600" b="1" dirty="0">
                <a:latin typeface="+mn-ea"/>
              </a:rPr>
              <a:t>+ Heating Box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2. </a:t>
            </a:r>
            <a:r>
              <a:rPr lang="ko-KR" altLang="en-US" sz="1600" b="1" dirty="0">
                <a:latin typeface="+mn-ea"/>
              </a:rPr>
              <a:t>온수기 </a:t>
            </a:r>
            <a:r>
              <a:rPr lang="en-US" altLang="ko-KR" sz="1600" b="1" dirty="0">
                <a:latin typeface="+mn-ea"/>
              </a:rPr>
              <a:t>:  </a:t>
            </a:r>
            <a:r>
              <a:rPr lang="ko-KR" altLang="en-US" sz="1600" b="1" dirty="0">
                <a:latin typeface="+mn-ea"/>
              </a:rPr>
              <a:t>온수기</a:t>
            </a:r>
            <a:r>
              <a:rPr lang="en-US" altLang="ko-KR" sz="1600" b="1" dirty="0">
                <a:latin typeface="+mn-ea"/>
              </a:rPr>
              <a:t>#1 (</a:t>
            </a:r>
            <a:r>
              <a:rPr lang="ko-KR" altLang="en-US" sz="1600" b="1" dirty="0">
                <a:latin typeface="+mn-ea"/>
              </a:rPr>
              <a:t>난방</a:t>
            </a:r>
            <a:r>
              <a:rPr lang="en-US" altLang="ko-KR" sz="1600" b="1" dirty="0">
                <a:latin typeface="+mn-ea"/>
              </a:rPr>
              <a:t>+</a:t>
            </a:r>
            <a:r>
              <a:rPr lang="ko-KR" altLang="en-US" sz="1600" b="1" dirty="0">
                <a:latin typeface="+mn-ea"/>
              </a:rPr>
              <a:t>온수 겸용</a:t>
            </a:r>
            <a:r>
              <a:rPr lang="en-US" altLang="ko-KR" sz="1600" b="1" dirty="0">
                <a:latin typeface="+mn-ea"/>
              </a:rPr>
              <a:t>), </a:t>
            </a:r>
            <a:r>
              <a:rPr lang="ko-KR" altLang="en-US" sz="1600" b="1" dirty="0">
                <a:latin typeface="+mn-ea"/>
              </a:rPr>
              <a:t>온수기</a:t>
            </a:r>
            <a:r>
              <a:rPr lang="en-US" altLang="ko-KR" sz="1600" b="1" dirty="0">
                <a:latin typeface="+mn-ea"/>
              </a:rPr>
              <a:t>#2 (</a:t>
            </a:r>
            <a:r>
              <a:rPr lang="ko-KR" altLang="en-US" sz="1600" b="1" dirty="0">
                <a:latin typeface="+mn-ea"/>
              </a:rPr>
              <a:t>온수 전용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3. Heating Box : </a:t>
            </a:r>
            <a:r>
              <a:rPr lang="ko-KR" altLang="en-US" sz="1600" b="1" dirty="0" err="1">
                <a:latin typeface="+mn-ea"/>
              </a:rPr>
              <a:t>판형열교환기</a:t>
            </a:r>
            <a:r>
              <a:rPr lang="en-US" altLang="ko-KR" sz="1600" b="1" dirty="0">
                <a:latin typeface="+mn-ea"/>
              </a:rPr>
              <a:t>, Pump, </a:t>
            </a:r>
            <a:r>
              <a:rPr lang="en-US" altLang="ko-KR" sz="1600" b="1" dirty="0" err="1">
                <a:latin typeface="+mn-ea"/>
              </a:rPr>
              <a:t>Themostatic</a:t>
            </a:r>
            <a:r>
              <a:rPr lang="en-US" altLang="ko-KR" sz="1600" b="1" dirty="0">
                <a:latin typeface="+mn-ea"/>
              </a:rPr>
              <a:t> Mixing Valve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4. </a:t>
            </a:r>
            <a:r>
              <a:rPr lang="ko-KR" altLang="en-US" sz="1600" b="1" dirty="0">
                <a:latin typeface="+mn-ea"/>
              </a:rPr>
              <a:t>특징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난방 가동 시 부족한 온수를 온수기</a:t>
            </a:r>
            <a:r>
              <a:rPr lang="en-US" altLang="ko-KR" sz="1600" b="1" dirty="0">
                <a:latin typeface="+mn-ea"/>
              </a:rPr>
              <a:t>#2</a:t>
            </a:r>
            <a:r>
              <a:rPr lang="ko-KR" altLang="en-US" sz="1600" b="1" dirty="0">
                <a:latin typeface="+mn-ea"/>
              </a:rPr>
              <a:t>가 보충하는 시스템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            </a:t>
            </a:r>
            <a:r>
              <a:rPr lang="ko-KR" altLang="en-US" sz="1600" b="1" dirty="0" err="1">
                <a:latin typeface="+mn-ea"/>
              </a:rPr>
              <a:t>판형열교환기를</a:t>
            </a:r>
            <a:r>
              <a:rPr lang="ko-KR" altLang="en-US" sz="1600" b="1" dirty="0">
                <a:latin typeface="+mn-ea"/>
              </a:rPr>
              <a:t> 통해 </a:t>
            </a:r>
            <a:r>
              <a:rPr lang="ko-KR" altLang="en-US" sz="1600" b="1" dirty="0" err="1">
                <a:latin typeface="+mn-ea"/>
              </a:rPr>
              <a:t>난방수와</a:t>
            </a:r>
            <a:r>
              <a:rPr lang="ko-KR" altLang="en-US" sz="1600" b="1" dirty="0">
                <a:latin typeface="+mn-ea"/>
              </a:rPr>
              <a:t> 온수가 섞이는 문제 해결</a:t>
            </a:r>
            <a:r>
              <a:rPr lang="en-US" altLang="ko-KR" sz="1600" b="1" dirty="0">
                <a:latin typeface="+mn-ea"/>
              </a:rPr>
              <a:t>          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9440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156667" y="904214"/>
            <a:ext cx="5615871" cy="5706887"/>
            <a:chOff x="156667" y="904214"/>
            <a:chExt cx="5615871" cy="5706887"/>
          </a:xfrm>
        </p:grpSpPr>
        <p:grpSp>
          <p:nvGrpSpPr>
            <p:cNvPr id="16" name="그룹 15"/>
            <p:cNvGrpSpPr/>
            <p:nvPr/>
          </p:nvGrpSpPr>
          <p:grpSpPr>
            <a:xfrm>
              <a:off x="156667" y="904214"/>
              <a:ext cx="5615871" cy="5706887"/>
              <a:chOff x="85236" y="737952"/>
              <a:chExt cx="5615871" cy="5706887"/>
            </a:xfrm>
          </p:grpSpPr>
          <p:grpSp>
            <p:nvGrpSpPr>
              <p:cNvPr id="43" name="그룹 42"/>
              <p:cNvGrpSpPr/>
              <p:nvPr/>
            </p:nvGrpSpPr>
            <p:grpSpPr>
              <a:xfrm>
                <a:off x="85236" y="737952"/>
                <a:ext cx="5615871" cy="5706887"/>
                <a:chOff x="6263692" y="631768"/>
                <a:chExt cx="5822400" cy="6127890"/>
              </a:xfrm>
            </p:grpSpPr>
            <p:pic>
              <p:nvPicPr>
                <p:cNvPr id="44" name="그림 4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308124" y="631768"/>
                  <a:ext cx="5777968" cy="6127890"/>
                </a:xfrm>
                <a:prstGeom prst="rect">
                  <a:avLst/>
                </a:prstGeom>
              </p:spPr>
            </p:pic>
            <p:sp>
              <p:nvSpPr>
                <p:cNvPr id="45" name="직사각형 44"/>
                <p:cNvSpPr/>
                <p:nvPr/>
              </p:nvSpPr>
              <p:spPr>
                <a:xfrm>
                  <a:off x="6263692" y="4720126"/>
                  <a:ext cx="2479411" cy="13023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6308124" y="745686"/>
                  <a:ext cx="2479411" cy="13023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6" name="직선 화살표 연결선 5"/>
              <p:cNvCxnSpPr/>
              <p:nvPr/>
            </p:nvCxnSpPr>
            <p:spPr>
              <a:xfrm>
                <a:off x="3723777" y="2095436"/>
                <a:ext cx="329327" cy="7543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화살표 연결선 7"/>
              <p:cNvCxnSpPr/>
              <p:nvPr/>
            </p:nvCxnSpPr>
            <p:spPr>
              <a:xfrm flipH="1" flipV="1">
                <a:off x="3704245" y="2102979"/>
                <a:ext cx="29" cy="1628930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/>
              <p:cNvCxnSpPr/>
              <p:nvPr/>
            </p:nvCxnSpPr>
            <p:spPr>
              <a:xfrm flipH="1" flipV="1">
                <a:off x="3322783" y="1478592"/>
                <a:ext cx="672998" cy="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/>
              <p:cNvCxnSpPr/>
              <p:nvPr/>
            </p:nvCxnSpPr>
            <p:spPr>
              <a:xfrm flipH="1" flipV="1">
                <a:off x="2452255" y="2822887"/>
                <a:ext cx="875718" cy="406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/>
              <p:cNvCxnSpPr/>
              <p:nvPr/>
            </p:nvCxnSpPr>
            <p:spPr>
              <a:xfrm flipV="1">
                <a:off x="2452255" y="3819294"/>
                <a:ext cx="1251990" cy="4561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/>
              <p:cNvCxnSpPr/>
              <p:nvPr/>
            </p:nvCxnSpPr>
            <p:spPr>
              <a:xfrm flipH="1" flipV="1">
                <a:off x="3995779" y="1500930"/>
                <a:ext cx="2287" cy="555542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/>
              <p:cNvCxnSpPr/>
              <p:nvPr/>
            </p:nvCxnSpPr>
            <p:spPr>
              <a:xfrm flipH="1">
                <a:off x="2386707" y="2835946"/>
                <a:ext cx="1" cy="106105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직선 화살표 연결선 60"/>
            <p:cNvCxnSpPr/>
            <p:nvPr/>
          </p:nvCxnSpPr>
          <p:spPr>
            <a:xfrm>
              <a:off x="3394214" y="1658788"/>
              <a:ext cx="112" cy="125554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/>
          <p:cNvGrpSpPr/>
          <p:nvPr/>
        </p:nvGrpSpPr>
        <p:grpSpPr>
          <a:xfrm>
            <a:off x="6335794" y="895900"/>
            <a:ext cx="5615871" cy="5706887"/>
            <a:chOff x="6335794" y="895900"/>
            <a:chExt cx="5615871" cy="5706887"/>
          </a:xfrm>
        </p:grpSpPr>
        <p:grpSp>
          <p:nvGrpSpPr>
            <p:cNvPr id="49" name="그룹 48"/>
            <p:cNvGrpSpPr/>
            <p:nvPr/>
          </p:nvGrpSpPr>
          <p:grpSpPr>
            <a:xfrm>
              <a:off x="6335794" y="895900"/>
              <a:ext cx="5615871" cy="5706887"/>
              <a:chOff x="6263692" y="631768"/>
              <a:chExt cx="5822400" cy="6127890"/>
            </a:xfrm>
          </p:grpSpPr>
          <p:pic>
            <p:nvPicPr>
              <p:cNvPr id="58" name="그림 5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08124" y="631768"/>
                <a:ext cx="5777968" cy="6127890"/>
              </a:xfrm>
              <a:prstGeom prst="rect">
                <a:avLst/>
              </a:prstGeom>
            </p:spPr>
          </p:pic>
          <p:sp>
            <p:nvSpPr>
              <p:cNvPr id="59" name="직사각형 58"/>
              <p:cNvSpPr/>
              <p:nvPr/>
            </p:nvSpPr>
            <p:spPr>
              <a:xfrm>
                <a:off x="6263692" y="472012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6308124" y="74568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" name="그룹 26"/>
            <p:cNvGrpSpPr/>
            <p:nvPr/>
          </p:nvGrpSpPr>
          <p:grpSpPr>
            <a:xfrm>
              <a:off x="6575766" y="1667192"/>
              <a:ext cx="4693368" cy="4602725"/>
              <a:chOff x="1950333" y="1118559"/>
              <a:chExt cx="5888802" cy="5264988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1950333" y="4511615"/>
                <a:ext cx="2907102" cy="18719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dirty="0"/>
              </a:p>
            </p:txBody>
          </p:sp>
          <p:cxnSp>
            <p:nvCxnSpPr>
              <p:cNvPr id="29" name="직선 화살표 연결선 28"/>
              <p:cNvCxnSpPr/>
              <p:nvPr/>
            </p:nvCxnSpPr>
            <p:spPr>
              <a:xfrm flipH="1">
                <a:off x="6527281" y="2921623"/>
                <a:ext cx="1311854" cy="0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화살표 연결선 29"/>
              <p:cNvCxnSpPr/>
              <p:nvPr/>
            </p:nvCxnSpPr>
            <p:spPr>
              <a:xfrm>
                <a:off x="5495763" y="3432197"/>
                <a:ext cx="2228710" cy="1916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/>
              <p:cNvCxnSpPr/>
              <p:nvPr/>
            </p:nvCxnSpPr>
            <p:spPr>
              <a:xfrm flipH="1">
                <a:off x="5771072" y="1181816"/>
                <a:ext cx="17252" cy="150099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/>
              <p:cNvCxnSpPr/>
              <p:nvPr/>
            </p:nvCxnSpPr>
            <p:spPr>
              <a:xfrm flipH="1" flipV="1">
                <a:off x="5771072" y="1118559"/>
                <a:ext cx="756210" cy="2875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/>
              <p:cNvCxnSpPr/>
              <p:nvPr/>
            </p:nvCxnSpPr>
            <p:spPr>
              <a:xfrm flipH="1">
                <a:off x="5300933" y="2682815"/>
                <a:ext cx="470139" cy="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/>
              <p:cNvCxnSpPr/>
              <p:nvPr/>
            </p:nvCxnSpPr>
            <p:spPr>
              <a:xfrm flipV="1">
                <a:off x="6527283" y="1166004"/>
                <a:ext cx="1" cy="1755619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1" name="직선 화살표 연결선 40"/>
          <p:cNvCxnSpPr/>
          <p:nvPr/>
        </p:nvCxnSpPr>
        <p:spPr>
          <a:xfrm>
            <a:off x="9361178" y="3119307"/>
            <a:ext cx="10274" cy="5364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49377" y="183066"/>
            <a:ext cx="9218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5.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Twin System </a:t>
            </a:r>
            <a:r>
              <a:rPr lang="ko-KR" altLang="en-US" b="1" dirty="0" err="1">
                <a:latin typeface="+mn-ea"/>
              </a:rPr>
              <a:t>컨셉</a:t>
            </a:r>
            <a:r>
              <a:rPr lang="ko-KR" altLang="en-US" b="1" dirty="0">
                <a:latin typeface="+mn-ea"/>
              </a:rPr>
              <a:t> 안 </a:t>
            </a:r>
            <a:r>
              <a:rPr lang="en-US" altLang="ko-KR" b="1" dirty="0">
                <a:latin typeface="+mn-ea"/>
              </a:rPr>
              <a:t>(1</a:t>
            </a:r>
            <a:r>
              <a:rPr lang="ko-KR" altLang="en-US" b="1" dirty="0">
                <a:latin typeface="+mn-ea"/>
              </a:rPr>
              <a:t>안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  <a:p>
            <a:endParaRPr lang="ko-KR" altLang="en-US" b="1" dirty="0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818" y="1088696"/>
            <a:ext cx="2775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난방만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5766" y="1088696"/>
            <a:ext cx="3629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온수만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901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86"/>
          <p:cNvGrpSpPr/>
          <p:nvPr/>
        </p:nvGrpSpPr>
        <p:grpSpPr>
          <a:xfrm>
            <a:off x="273574" y="859570"/>
            <a:ext cx="5615871" cy="5706887"/>
            <a:chOff x="6335794" y="895900"/>
            <a:chExt cx="5615871" cy="5706887"/>
          </a:xfrm>
        </p:grpSpPr>
        <p:grpSp>
          <p:nvGrpSpPr>
            <p:cNvPr id="88" name="그룹 87"/>
            <p:cNvGrpSpPr/>
            <p:nvPr/>
          </p:nvGrpSpPr>
          <p:grpSpPr>
            <a:xfrm>
              <a:off x="6335794" y="895900"/>
              <a:ext cx="5615871" cy="5706887"/>
              <a:chOff x="6263692" y="631768"/>
              <a:chExt cx="5822400" cy="6127890"/>
            </a:xfrm>
          </p:grpSpPr>
          <p:pic>
            <p:nvPicPr>
              <p:cNvPr id="97" name="그림 9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08124" y="631768"/>
                <a:ext cx="5777968" cy="6127890"/>
              </a:xfrm>
              <a:prstGeom prst="rect">
                <a:avLst/>
              </a:prstGeom>
            </p:spPr>
          </p:pic>
          <p:sp>
            <p:nvSpPr>
              <p:cNvPr id="98" name="직사각형 97"/>
              <p:cNvSpPr/>
              <p:nvPr/>
            </p:nvSpPr>
            <p:spPr>
              <a:xfrm>
                <a:off x="6263692" y="472012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6308124" y="74568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6575766" y="4633449"/>
              <a:ext cx="2316956" cy="16364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6335794" y="895900"/>
            <a:ext cx="5615871" cy="5706887"/>
            <a:chOff x="6335794" y="895900"/>
            <a:chExt cx="5615871" cy="5706887"/>
          </a:xfrm>
        </p:grpSpPr>
        <p:grpSp>
          <p:nvGrpSpPr>
            <p:cNvPr id="53" name="그룹 52"/>
            <p:cNvGrpSpPr/>
            <p:nvPr/>
          </p:nvGrpSpPr>
          <p:grpSpPr>
            <a:xfrm>
              <a:off x="6335794" y="895900"/>
              <a:ext cx="5615871" cy="5706887"/>
              <a:chOff x="6263692" y="631768"/>
              <a:chExt cx="5822400" cy="6127890"/>
            </a:xfrm>
          </p:grpSpPr>
          <p:pic>
            <p:nvPicPr>
              <p:cNvPr id="80" name="그림 7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08124" y="631768"/>
                <a:ext cx="5777968" cy="6127890"/>
              </a:xfrm>
              <a:prstGeom prst="rect">
                <a:avLst/>
              </a:prstGeom>
            </p:spPr>
          </p:pic>
          <p:sp>
            <p:nvSpPr>
              <p:cNvPr id="81" name="직사각형 80"/>
              <p:cNvSpPr/>
              <p:nvPr/>
            </p:nvSpPr>
            <p:spPr>
              <a:xfrm>
                <a:off x="6263692" y="472012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/>
              <p:cNvSpPr/>
              <p:nvPr/>
            </p:nvSpPr>
            <p:spPr>
              <a:xfrm>
                <a:off x="6308124" y="745686"/>
                <a:ext cx="2479411" cy="1302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6575766" y="1667192"/>
              <a:ext cx="5286496" cy="4602725"/>
              <a:chOff x="1950333" y="1118559"/>
              <a:chExt cx="6633005" cy="5264988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1950333" y="4511615"/>
                <a:ext cx="2907102" cy="18719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dirty="0"/>
              </a:p>
            </p:txBody>
          </p:sp>
          <p:cxnSp>
            <p:nvCxnSpPr>
              <p:cNvPr id="74" name="직선 화살표 연결선 73"/>
              <p:cNvCxnSpPr/>
              <p:nvPr/>
            </p:nvCxnSpPr>
            <p:spPr>
              <a:xfrm flipH="1">
                <a:off x="6558572" y="2921623"/>
                <a:ext cx="1311854" cy="0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/>
              <p:cNvCxnSpPr/>
              <p:nvPr/>
            </p:nvCxnSpPr>
            <p:spPr>
              <a:xfrm>
                <a:off x="5495763" y="3432197"/>
                <a:ext cx="3087575" cy="26547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화살표 연결선 75"/>
              <p:cNvCxnSpPr/>
              <p:nvPr/>
            </p:nvCxnSpPr>
            <p:spPr>
              <a:xfrm flipH="1">
                <a:off x="5771072" y="1181816"/>
                <a:ext cx="17252" cy="150099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/>
              <p:cNvCxnSpPr/>
              <p:nvPr/>
            </p:nvCxnSpPr>
            <p:spPr>
              <a:xfrm flipH="1" flipV="1">
                <a:off x="5771072" y="1118559"/>
                <a:ext cx="756210" cy="2875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화살표 연결선 77"/>
              <p:cNvCxnSpPr/>
              <p:nvPr/>
            </p:nvCxnSpPr>
            <p:spPr>
              <a:xfrm flipH="1">
                <a:off x="5300933" y="2682815"/>
                <a:ext cx="470139" cy="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화살표 연결선 78"/>
              <p:cNvCxnSpPr/>
              <p:nvPr/>
            </p:nvCxnSpPr>
            <p:spPr>
              <a:xfrm flipV="1">
                <a:off x="6579435" y="1166004"/>
                <a:ext cx="1" cy="1755619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직선 화살표 연결선 28"/>
          <p:cNvCxnSpPr/>
          <p:nvPr/>
        </p:nvCxnSpPr>
        <p:spPr>
          <a:xfrm flipH="1">
            <a:off x="4154873" y="3220043"/>
            <a:ext cx="1045546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flipV="1">
            <a:off x="3332754" y="3666118"/>
            <a:ext cx="2136129" cy="2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3510610" y="1699080"/>
            <a:ext cx="13750" cy="13121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 flipV="1">
            <a:off x="3552175" y="1643780"/>
            <a:ext cx="602698" cy="25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154874" y="1685257"/>
            <a:ext cx="1" cy="1534786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295283" y="3042849"/>
            <a:ext cx="882" cy="6585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9351355" y="3109983"/>
            <a:ext cx="10274" cy="5364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10501568" y="3243455"/>
            <a:ext cx="0" cy="261143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V="1">
            <a:off x="10279632" y="5008695"/>
            <a:ext cx="13419" cy="84619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 flipV="1">
            <a:off x="9527793" y="5049308"/>
            <a:ext cx="690188" cy="54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>
            <a:off x="9531187" y="5111835"/>
            <a:ext cx="10274" cy="5364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flipH="1">
            <a:off x="10253754" y="5837633"/>
            <a:ext cx="204559" cy="0"/>
          </a:xfrm>
          <a:prstGeom prst="straightConnector1">
            <a:avLst/>
          </a:prstGeom>
          <a:ln w="57150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H="1">
            <a:off x="9341098" y="5639621"/>
            <a:ext cx="204559" cy="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V="1">
            <a:off x="9361629" y="3706558"/>
            <a:ext cx="0" cy="19205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3848400" y="2271137"/>
            <a:ext cx="329327" cy="754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H="1" flipV="1">
            <a:off x="3828868" y="2278680"/>
            <a:ext cx="29" cy="162893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H="1">
            <a:off x="2613785" y="2971025"/>
            <a:ext cx="858242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2613785" y="3920177"/>
            <a:ext cx="1215083" cy="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flipH="1" flipV="1">
            <a:off x="4120402" y="1676631"/>
            <a:ext cx="2287" cy="55554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9945979" y="2303229"/>
            <a:ext cx="329327" cy="754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H="1" flipV="1">
            <a:off x="9926447" y="2310772"/>
            <a:ext cx="29" cy="162893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V="1">
            <a:off x="8696957" y="3952270"/>
            <a:ext cx="1229490" cy="1521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 flipH="1" flipV="1">
            <a:off x="10217981" y="1708723"/>
            <a:ext cx="2287" cy="55554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flipH="1" flipV="1">
            <a:off x="8578644" y="3012204"/>
            <a:ext cx="681498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 flipH="1">
            <a:off x="2587934" y="3045238"/>
            <a:ext cx="605" cy="8144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 flipH="1">
            <a:off x="8602927" y="3092113"/>
            <a:ext cx="605" cy="8144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 flipH="1">
            <a:off x="10631866" y="6359236"/>
            <a:ext cx="1230396" cy="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>
            <a:off x="11862262" y="3749343"/>
            <a:ext cx="0" cy="25205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028955" y="971269"/>
            <a:ext cx="3629221" cy="69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난방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온수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→ 온수 사용량이 많을 경우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662" y="973151"/>
            <a:ext cx="3116853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난방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온수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→ 온수 사용량이 적을 경우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9377" y="183066"/>
            <a:ext cx="9218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5.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Twin System </a:t>
            </a:r>
            <a:r>
              <a:rPr lang="ko-KR" altLang="en-US" b="1" dirty="0" err="1">
                <a:latin typeface="+mn-ea"/>
              </a:rPr>
              <a:t>컨셉</a:t>
            </a:r>
            <a:r>
              <a:rPr lang="ko-KR" altLang="en-US" b="1" dirty="0">
                <a:latin typeface="+mn-ea"/>
              </a:rPr>
              <a:t> 안 </a:t>
            </a:r>
            <a:r>
              <a:rPr lang="en-US" altLang="ko-KR" b="1" dirty="0">
                <a:latin typeface="+mn-ea"/>
              </a:rPr>
              <a:t>(1</a:t>
            </a:r>
            <a:r>
              <a:rPr lang="ko-KR" altLang="en-US" b="1" dirty="0">
                <a:latin typeface="+mn-ea"/>
              </a:rPr>
              <a:t>안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  <a:p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238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00" y="3943248"/>
            <a:ext cx="4594589" cy="25382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5.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Twin System </a:t>
            </a:r>
            <a:r>
              <a:rPr lang="ko-KR" altLang="en-US" b="1" dirty="0" err="1">
                <a:latin typeface="+mn-ea"/>
              </a:rPr>
              <a:t>컨셉</a:t>
            </a:r>
            <a:r>
              <a:rPr lang="ko-KR" altLang="en-US" b="1" dirty="0">
                <a:latin typeface="+mn-ea"/>
              </a:rPr>
              <a:t> 안 </a:t>
            </a:r>
            <a:r>
              <a:rPr lang="en-US" altLang="ko-KR" b="1" dirty="0">
                <a:latin typeface="+mn-ea"/>
              </a:rPr>
              <a:t>(2</a:t>
            </a:r>
            <a:r>
              <a:rPr lang="ko-KR" altLang="en-US" b="1" dirty="0">
                <a:latin typeface="+mn-ea"/>
              </a:rPr>
              <a:t>안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0472" y="3455730"/>
            <a:ext cx="3195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>
                <a:latin typeface="+mn-ea"/>
              </a:rPr>
              <a:t>Heating Box </a:t>
            </a:r>
            <a:r>
              <a:rPr lang="ko-KR" altLang="en-US" sz="1600" b="1" dirty="0">
                <a:latin typeface="+mn-ea"/>
              </a:rPr>
              <a:t>구조도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2" y="4476887"/>
            <a:ext cx="108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+mn-ea"/>
              </a:rPr>
              <a:t>Airhandler</a:t>
            </a:r>
            <a:endParaRPr lang="en-US" altLang="ko-KR" sz="1400" b="1" dirty="0">
              <a:latin typeface="+mn-ea"/>
            </a:endParaRPr>
          </a:p>
          <a:p>
            <a:pPr algn="ctr"/>
            <a:r>
              <a:rPr lang="ko-KR" altLang="en-US" sz="1400" b="1" dirty="0">
                <a:latin typeface="+mn-ea"/>
              </a:rPr>
              <a:t>환수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86" y="5706890"/>
            <a:ext cx="108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+mn-ea"/>
              </a:rPr>
              <a:t>Airhandler</a:t>
            </a:r>
            <a:endParaRPr lang="en-US" altLang="ko-KR" sz="1400" b="1" dirty="0">
              <a:latin typeface="+mn-ea"/>
            </a:endParaRPr>
          </a:p>
          <a:p>
            <a:pPr algn="ctr"/>
            <a:r>
              <a:rPr lang="ko-KR" altLang="en-US" sz="1400" b="1" dirty="0">
                <a:latin typeface="+mn-ea"/>
              </a:rPr>
              <a:t>공급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462" y="3850484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1754" y="3842927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온수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6435" y="3696596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#1 </a:t>
            </a:r>
            <a:r>
              <a:rPr lang="ko-KR" altLang="en-US" sz="1400" b="1" dirty="0">
                <a:latin typeface="+mn-ea"/>
              </a:rPr>
              <a:t>환수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5295" y="6353274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#2 </a:t>
            </a:r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6689" y="6353274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#2 </a:t>
            </a:r>
            <a:r>
              <a:rPr lang="ko-KR" altLang="en-US" sz="1400" b="1" dirty="0">
                <a:latin typeface="+mn-ea"/>
              </a:rPr>
              <a:t>온수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2497" y="4439013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Pump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44096" y="5814611"/>
            <a:ext cx="1268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latin typeface="+mn-ea"/>
              </a:rPr>
              <a:t>판형열교환기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4249" y="4705225"/>
            <a:ext cx="636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TMV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05229" y="6339975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#2 </a:t>
            </a:r>
            <a:r>
              <a:rPr lang="ko-KR" altLang="en-US" sz="1400" b="1" dirty="0">
                <a:latin typeface="+mn-ea"/>
              </a:rPr>
              <a:t>환수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1226" y="4578266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직수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1226" y="5204129"/>
            <a:ext cx="97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온수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6479653" y="689956"/>
            <a:ext cx="5636932" cy="6093227"/>
            <a:chOff x="5950101" y="464261"/>
            <a:chExt cx="6099982" cy="6393739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20709" y="464261"/>
              <a:ext cx="6029374" cy="6393739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020709" y="471413"/>
              <a:ext cx="1460746" cy="1515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950101" y="4714522"/>
              <a:ext cx="2665482" cy="1515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95764" y="1761445"/>
              <a:ext cx="294193" cy="689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389" y="826166"/>
            <a:ext cx="77691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1. System : </a:t>
            </a:r>
            <a:r>
              <a:rPr lang="ko-KR" altLang="en-US" sz="1600" b="1" dirty="0">
                <a:latin typeface="+mn-ea"/>
              </a:rPr>
              <a:t>온수기 </a:t>
            </a:r>
            <a:r>
              <a:rPr lang="en-US" altLang="ko-KR" sz="1600" b="1" dirty="0">
                <a:latin typeface="+mn-ea"/>
              </a:rPr>
              <a:t>2</a:t>
            </a:r>
            <a:r>
              <a:rPr lang="ko-KR" altLang="en-US" sz="1600" b="1" dirty="0">
                <a:latin typeface="+mn-ea"/>
              </a:rPr>
              <a:t>대 </a:t>
            </a:r>
            <a:r>
              <a:rPr lang="en-US" altLang="ko-KR" sz="1600" b="1" dirty="0">
                <a:latin typeface="+mn-ea"/>
              </a:rPr>
              <a:t>+ Heating Box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2. </a:t>
            </a:r>
            <a:r>
              <a:rPr lang="ko-KR" altLang="en-US" sz="1600" b="1" dirty="0">
                <a:latin typeface="+mn-ea"/>
              </a:rPr>
              <a:t>온수기 </a:t>
            </a:r>
            <a:r>
              <a:rPr lang="en-US" altLang="ko-KR" sz="1600" b="1" dirty="0">
                <a:latin typeface="+mn-ea"/>
              </a:rPr>
              <a:t>:  </a:t>
            </a:r>
            <a:r>
              <a:rPr lang="ko-KR" altLang="en-US" sz="1600" b="1" dirty="0">
                <a:latin typeface="+mn-ea"/>
              </a:rPr>
              <a:t>온수기</a:t>
            </a:r>
            <a:r>
              <a:rPr lang="en-US" altLang="ko-KR" sz="1600" b="1" dirty="0">
                <a:latin typeface="+mn-ea"/>
              </a:rPr>
              <a:t>#1 (</a:t>
            </a:r>
            <a:r>
              <a:rPr lang="ko-KR" altLang="en-US" sz="1600" b="1" dirty="0">
                <a:latin typeface="+mn-ea"/>
              </a:rPr>
              <a:t>난방</a:t>
            </a:r>
            <a:r>
              <a:rPr lang="en-US" altLang="ko-KR" sz="1600" b="1" dirty="0">
                <a:latin typeface="+mn-ea"/>
              </a:rPr>
              <a:t>+</a:t>
            </a:r>
            <a:r>
              <a:rPr lang="ko-KR" altLang="en-US" sz="1600" b="1" dirty="0">
                <a:latin typeface="+mn-ea"/>
              </a:rPr>
              <a:t>온수 겸용</a:t>
            </a:r>
            <a:r>
              <a:rPr lang="en-US" altLang="ko-KR" sz="1600" b="1" dirty="0">
                <a:latin typeface="+mn-ea"/>
              </a:rPr>
              <a:t>), </a:t>
            </a:r>
            <a:r>
              <a:rPr lang="ko-KR" altLang="en-US" sz="1600" b="1" dirty="0">
                <a:latin typeface="+mn-ea"/>
              </a:rPr>
              <a:t>온수기</a:t>
            </a:r>
            <a:r>
              <a:rPr lang="en-US" altLang="ko-KR" sz="1600" b="1" dirty="0">
                <a:latin typeface="+mn-ea"/>
              </a:rPr>
              <a:t>#2 (</a:t>
            </a:r>
            <a:r>
              <a:rPr lang="ko-KR" altLang="en-US" sz="1600" b="1" dirty="0">
                <a:latin typeface="+mn-ea"/>
              </a:rPr>
              <a:t>난방예비</a:t>
            </a:r>
            <a:r>
              <a:rPr lang="en-US" altLang="ko-KR" sz="1600" b="1" dirty="0">
                <a:latin typeface="+mn-ea"/>
              </a:rPr>
              <a:t>+</a:t>
            </a:r>
            <a:r>
              <a:rPr lang="ko-KR" altLang="en-US" sz="1600" b="1" dirty="0">
                <a:latin typeface="+mn-ea"/>
              </a:rPr>
              <a:t>온수 전용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3. Heating Box : </a:t>
            </a:r>
            <a:r>
              <a:rPr lang="ko-KR" altLang="en-US" sz="1600" b="1" dirty="0" err="1">
                <a:latin typeface="+mn-ea"/>
              </a:rPr>
              <a:t>판형열교환기</a:t>
            </a:r>
            <a:r>
              <a:rPr lang="en-US" altLang="ko-KR" sz="1600" b="1" dirty="0">
                <a:latin typeface="+mn-ea"/>
              </a:rPr>
              <a:t>, Pump, </a:t>
            </a:r>
            <a:r>
              <a:rPr lang="en-US" altLang="ko-KR" sz="1600" b="1" dirty="0" err="1">
                <a:latin typeface="+mn-ea"/>
              </a:rPr>
              <a:t>Themostatic</a:t>
            </a:r>
            <a:r>
              <a:rPr lang="en-US" altLang="ko-KR" sz="1600" b="1" dirty="0">
                <a:latin typeface="+mn-ea"/>
              </a:rPr>
              <a:t> Mixing Valve,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밸브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4ea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4. </a:t>
            </a:r>
            <a:r>
              <a:rPr lang="ko-KR" altLang="en-US" sz="1600" b="1" dirty="0">
                <a:latin typeface="+mn-ea"/>
              </a:rPr>
              <a:t>특징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난방 가동 시 부족한 온수를 온수기</a:t>
            </a:r>
            <a:r>
              <a:rPr lang="en-US" altLang="ko-KR" sz="1600" b="1" dirty="0">
                <a:latin typeface="+mn-ea"/>
              </a:rPr>
              <a:t>#2</a:t>
            </a:r>
            <a:r>
              <a:rPr lang="ko-KR" altLang="en-US" sz="1600" b="1" dirty="0">
                <a:latin typeface="+mn-ea"/>
              </a:rPr>
              <a:t>가 보충하는 시스템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           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온수기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#1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이 고장으로 난방이 안될 경우 온수기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#2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가 난방 가동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          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872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5.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Twin System </a:t>
            </a:r>
            <a:r>
              <a:rPr lang="ko-KR" altLang="en-US" b="1" dirty="0" err="1">
                <a:latin typeface="+mn-ea"/>
              </a:rPr>
              <a:t>컨셉</a:t>
            </a:r>
            <a:r>
              <a:rPr lang="ko-KR" altLang="en-US" b="1" dirty="0">
                <a:latin typeface="+mn-ea"/>
              </a:rPr>
              <a:t> 안 </a:t>
            </a:r>
            <a:r>
              <a:rPr lang="en-US" altLang="ko-KR" b="1" dirty="0">
                <a:latin typeface="+mn-ea"/>
              </a:rPr>
              <a:t>(2</a:t>
            </a:r>
            <a:r>
              <a:rPr lang="ko-KR" altLang="en-US" b="1" dirty="0">
                <a:latin typeface="+mn-ea"/>
              </a:rPr>
              <a:t>안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6240693" y="959836"/>
            <a:ext cx="5839811" cy="5770618"/>
            <a:chOff x="5950101" y="464261"/>
            <a:chExt cx="6099982" cy="6393739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0709" y="464261"/>
              <a:ext cx="6029374" cy="6393739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6020709" y="471413"/>
              <a:ext cx="1460746" cy="1515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50101" y="4714522"/>
              <a:ext cx="2665482" cy="1515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95764" y="1761445"/>
              <a:ext cx="294193" cy="689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0" y="947651"/>
            <a:ext cx="5839811" cy="5770618"/>
            <a:chOff x="0" y="947651"/>
            <a:chExt cx="5839811" cy="5770618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947651"/>
              <a:ext cx="5839811" cy="5770618"/>
              <a:chOff x="5950101" y="464261"/>
              <a:chExt cx="6099982" cy="6393739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20709" y="464261"/>
                <a:ext cx="6029374" cy="6393739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6020709" y="471413"/>
                <a:ext cx="1460746" cy="15155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950101" y="4714522"/>
                <a:ext cx="2665482" cy="15155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095764" y="1761445"/>
                <a:ext cx="294193" cy="6898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dirty="0"/>
              </a:p>
            </p:txBody>
          </p:sp>
        </p:grpSp>
        <p:cxnSp>
          <p:nvCxnSpPr>
            <p:cNvPr id="10" name="직선 화살표 연결선 9"/>
            <p:cNvCxnSpPr/>
            <p:nvPr/>
          </p:nvCxnSpPr>
          <p:spPr>
            <a:xfrm>
              <a:off x="3811834" y="2378076"/>
              <a:ext cx="329327" cy="7543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 flipH="1" flipV="1">
              <a:off x="3792302" y="2385619"/>
              <a:ext cx="29" cy="162893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 flipH="1" flipV="1">
              <a:off x="3410840" y="1761232"/>
              <a:ext cx="672998" cy="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flipH="1">
              <a:off x="2551796" y="3109589"/>
              <a:ext cx="864234" cy="850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flipV="1">
              <a:off x="2540312" y="4101934"/>
              <a:ext cx="1251990" cy="4561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/>
            <p:nvPr/>
          </p:nvCxnSpPr>
          <p:spPr>
            <a:xfrm flipH="1" flipV="1">
              <a:off x="4083836" y="1783570"/>
              <a:ext cx="2287" cy="555542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 flipH="1">
              <a:off x="2474764" y="3118586"/>
              <a:ext cx="1" cy="106105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3410840" y="1775166"/>
              <a:ext cx="112" cy="125554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622510" y="5046335"/>
              <a:ext cx="1596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solidFill>
                    <a:srgbClr val="FF0000"/>
                  </a:solidFill>
                </a:rPr>
                <a:t>밸브 닫힘</a:t>
              </a:r>
            </a:p>
          </p:txBody>
        </p:sp>
        <p:cxnSp>
          <p:nvCxnSpPr>
            <p:cNvPr id="25" name="직선 화살표 연결선 24"/>
            <p:cNvCxnSpPr/>
            <p:nvPr/>
          </p:nvCxnSpPr>
          <p:spPr>
            <a:xfrm flipV="1">
              <a:off x="2122804" y="3474721"/>
              <a:ext cx="595457" cy="1615684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 flipV="1">
              <a:off x="2128058" y="4101935"/>
              <a:ext cx="1824496" cy="96882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16818" y="1088696"/>
            <a:ext cx="2775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난방만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   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온수기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#1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가동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8538" y="1088695"/>
            <a:ext cx="2775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◎ 난방만 가동 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FLOW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   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온수기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#2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가동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0453598" y="4101934"/>
            <a:ext cx="20439" cy="165047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8792489" y="4101934"/>
            <a:ext cx="1664922" cy="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H="1" flipV="1">
            <a:off x="9459884" y="3832960"/>
            <a:ext cx="33595" cy="19639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flipH="1">
            <a:off x="8964320" y="3832962"/>
            <a:ext cx="491752" cy="121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V="1">
            <a:off x="8961713" y="3200084"/>
            <a:ext cx="2607" cy="6149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flipH="1" flipV="1">
            <a:off x="8571552" y="3156676"/>
            <a:ext cx="415100" cy="88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8593858" y="3158519"/>
            <a:ext cx="1" cy="106105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>
            <a:off x="9655590" y="5200223"/>
            <a:ext cx="2924" cy="6258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flipH="1" flipV="1">
            <a:off x="9653166" y="5202010"/>
            <a:ext cx="672998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H="1" flipV="1">
            <a:off x="10326162" y="5224348"/>
            <a:ext cx="2287" cy="55554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9456072" y="5783482"/>
            <a:ext cx="204559" cy="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>
            <a:off x="10319553" y="5752407"/>
            <a:ext cx="204559" cy="0"/>
          </a:xfrm>
          <a:prstGeom prst="straightConnector1">
            <a:avLst/>
          </a:prstGeom>
          <a:ln w="571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981080" y="1789067"/>
            <a:ext cx="1596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밸브 닫힘</a:t>
            </a: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8593858" y="2112938"/>
            <a:ext cx="864120" cy="100348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>
            <a:off x="8593858" y="2112938"/>
            <a:ext cx="1415931" cy="109934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87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816"/>
            <a:ext cx="12192000" cy="5311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n-ea"/>
              </a:rPr>
              <a:t>유첨</a:t>
            </a:r>
            <a:r>
              <a:rPr lang="en-US" altLang="ko-KR" b="1" dirty="0">
                <a:latin typeface="+mn-ea"/>
              </a:rPr>
              <a:t>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CSA P.9 </a:t>
            </a:r>
            <a:r>
              <a:rPr lang="ko-KR" altLang="en-US" b="1" dirty="0">
                <a:latin typeface="+mn-ea"/>
              </a:rPr>
              <a:t>인증 현황</a:t>
            </a:r>
          </a:p>
        </p:txBody>
      </p:sp>
    </p:spTree>
    <p:extLst>
      <p:ext uri="{BB962C8B-B14F-4D97-AF65-F5344CB8AC3E}">
        <p14:creationId xmlns:p14="http://schemas.microsoft.com/office/powerpoint/2010/main" val="3942677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1866"/>
            <a:ext cx="12192000" cy="5311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n-ea"/>
              </a:rPr>
              <a:t>유첨</a:t>
            </a:r>
            <a:r>
              <a:rPr lang="en-US" altLang="ko-KR" b="1" dirty="0">
                <a:latin typeface="+mn-ea"/>
              </a:rPr>
              <a:t>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CSA P.9 </a:t>
            </a:r>
            <a:r>
              <a:rPr lang="ko-KR" altLang="en-US" b="1" dirty="0">
                <a:latin typeface="+mn-ea"/>
              </a:rPr>
              <a:t>인증 현황</a:t>
            </a:r>
          </a:p>
        </p:txBody>
      </p:sp>
    </p:spTree>
    <p:extLst>
      <p:ext uri="{BB962C8B-B14F-4D97-AF65-F5344CB8AC3E}">
        <p14:creationId xmlns:p14="http://schemas.microsoft.com/office/powerpoint/2010/main" val="189447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944"/>
            <a:ext cx="12192000" cy="5311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n-ea"/>
              </a:rPr>
              <a:t>유첨</a:t>
            </a:r>
            <a:r>
              <a:rPr lang="en-US" altLang="ko-KR" b="1" dirty="0">
                <a:latin typeface="+mn-ea"/>
              </a:rPr>
              <a:t>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CSA P.9 </a:t>
            </a:r>
            <a:r>
              <a:rPr lang="ko-KR" altLang="en-US" b="1" dirty="0">
                <a:latin typeface="+mn-ea"/>
              </a:rPr>
              <a:t>인증 현황</a:t>
            </a:r>
          </a:p>
        </p:txBody>
      </p:sp>
    </p:spTree>
    <p:extLst>
      <p:ext uri="{BB962C8B-B14F-4D97-AF65-F5344CB8AC3E}">
        <p14:creationId xmlns:p14="http://schemas.microsoft.com/office/powerpoint/2010/main" val="32141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35077" y="805326"/>
            <a:ext cx="594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◎ </a:t>
            </a:r>
            <a:r>
              <a:rPr lang="en-US" altLang="ko-KR" sz="1600" b="1" dirty="0" err="1">
                <a:latin typeface="+mn-ea"/>
              </a:rPr>
              <a:t>AirHandler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자료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조사 </a:t>
            </a:r>
            <a:r>
              <a:rPr lang="en-US" altLang="ko-KR" sz="1600" b="1" dirty="0">
                <a:latin typeface="+mn-ea"/>
              </a:rPr>
              <a:t>: CSA P.9-11 </a:t>
            </a:r>
            <a:r>
              <a:rPr lang="ko-KR" altLang="en-US" sz="1600" b="1" dirty="0">
                <a:latin typeface="+mn-ea"/>
              </a:rPr>
              <a:t>인증 현황  </a:t>
            </a:r>
            <a:r>
              <a:rPr lang="en-US" altLang="ko-KR" sz="1600" b="1" dirty="0">
                <a:latin typeface="+mn-ea"/>
              </a:rPr>
              <a:t> 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791"/>
            <a:ext cx="12192000" cy="5311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9377" y="183066"/>
            <a:ext cx="92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n-ea"/>
              </a:rPr>
              <a:t>유첨</a:t>
            </a:r>
            <a:r>
              <a:rPr lang="en-US" altLang="ko-KR" b="1" dirty="0">
                <a:latin typeface="+mn-ea"/>
              </a:rPr>
              <a:t>.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CSA P.9 </a:t>
            </a:r>
            <a:r>
              <a:rPr lang="ko-KR" altLang="en-US" b="1" dirty="0">
                <a:latin typeface="+mn-ea"/>
              </a:rPr>
              <a:t>인증 현황</a:t>
            </a:r>
          </a:p>
        </p:txBody>
      </p:sp>
    </p:spTree>
    <p:extLst>
      <p:ext uri="{BB962C8B-B14F-4D97-AF65-F5344CB8AC3E}">
        <p14:creationId xmlns:p14="http://schemas.microsoft.com/office/powerpoint/2010/main" val="261589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30176</TotalTime>
  <Words>903</Words>
  <Application>Microsoft Office PowerPoint</Application>
  <PresentationFormat>와이드스크린</PresentationFormat>
  <Paragraphs>196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이영민</cp:lastModifiedBy>
  <cp:revision>1752</cp:revision>
  <cp:lastPrinted>2026-04-16T23:52:15Z</cp:lastPrinted>
  <dcterms:created xsi:type="dcterms:W3CDTF">2023-11-21T06:12:45Z</dcterms:created>
  <dcterms:modified xsi:type="dcterms:W3CDTF">2026-07-01T00:47:44Z</dcterms:modified>
</cp:coreProperties>
</file>